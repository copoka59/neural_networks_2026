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7" r:id="rId2"/>
    <p:sldId id="303" r:id="rId3"/>
    <p:sldId id="305" r:id="rId4"/>
    <p:sldId id="306" r:id="rId5"/>
    <p:sldId id="307" r:id="rId6"/>
    <p:sldId id="339" r:id="rId7"/>
    <p:sldId id="310" r:id="rId8"/>
    <p:sldId id="314" r:id="rId9"/>
    <p:sldId id="276" r:id="rId10"/>
  </p:sldIdLst>
  <p:sldSz cx="9144000" cy="5143500" type="screen16x9"/>
  <p:notesSz cx="6858000" cy="9144000"/>
  <p:defaultTextStyle>
    <a:defPPr>
      <a:defRPr lang="ru-RU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257">
          <p15:clr>
            <a:srgbClr val="A4A3A4"/>
          </p15:clr>
        </p15:guide>
        <p15:guide id="3" orient="horz" pos="2984">
          <p15:clr>
            <a:srgbClr val="A4A3A4"/>
          </p15:clr>
        </p15:guide>
        <p15:guide id="4" pos="2880">
          <p15:clr>
            <a:srgbClr val="A4A3A4"/>
          </p15:clr>
        </p15:guide>
        <p15:guide id="5" pos="226">
          <p15:clr>
            <a:srgbClr val="A4A3A4"/>
          </p15:clr>
        </p15:guide>
        <p15:guide id="6" pos="553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eletkov" initials="i" lastIdx="20" clrIdx="0">
    <p:extLst>
      <p:ext uri="{19B8F6BF-5375-455C-9EA6-DF929625EA0E}">
        <p15:presenceInfo xmlns:p15="http://schemas.microsoft.com/office/powerpoint/2012/main" userId="iseletkov" providerId="None"/>
      </p:ext>
    </p:extLst>
  </p:cmAuthor>
  <p:cmAuthor id="2" name="Русаков Вадим" initials="РВ" lastIdx="1" clrIdx="1">
    <p:extLst>
      <p:ext uri="{19B8F6BF-5375-455C-9EA6-DF929625EA0E}">
        <p15:presenceInfo xmlns:p15="http://schemas.microsoft.com/office/powerpoint/2012/main" userId="25ba6a8c0904ec9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0829"/>
    <a:srgbClr val="D5E8D4"/>
    <a:srgbClr val="DF737D"/>
    <a:srgbClr val="FAECED"/>
    <a:srgbClr val="F5D4D7"/>
    <a:srgbClr val="C62E3E"/>
    <a:srgbClr val="925AA6"/>
    <a:srgbClr val="00803B"/>
    <a:srgbClr val="32B8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-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Светлый стиль 3 -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5931" autoAdjust="0"/>
  </p:normalViewPr>
  <p:slideViewPr>
    <p:cSldViewPr snapToGrid="0">
      <p:cViewPr varScale="1">
        <p:scale>
          <a:sx n="128" d="100"/>
          <a:sy n="128" d="100"/>
        </p:scale>
        <p:origin x="197" y="96"/>
      </p:cViewPr>
      <p:guideLst>
        <p:guide orient="horz" pos="1620"/>
        <p:guide orient="horz" pos="257"/>
        <p:guide orient="horz" pos="2984"/>
        <p:guide pos="2880"/>
        <p:guide pos="226"/>
        <p:guide pos="553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8.xml"/><Relationship Id="rId3" Type="http://schemas.openxmlformats.org/officeDocument/2006/relationships/slide" Target="slides/slide3.xml"/><Relationship Id="rId7" Type="http://schemas.openxmlformats.org/officeDocument/2006/relationships/slide" Target="slides/slide7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5" Type="http://schemas.openxmlformats.org/officeDocument/2006/relationships/slide" Target="slides/slide5.xml"/><Relationship Id="rId4" Type="http://schemas.openxmlformats.org/officeDocument/2006/relationships/slide" Target="slides/slide4.xml"/><Relationship Id="rId9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FEF02-1F78-4345-B154-220A673D1341}" type="datetimeFigureOut">
              <a:rPr lang="ru-RU" smtClean="0"/>
              <a:pPr/>
              <a:t>29.04.2026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591286-B1AA-4FB5-8C57-7C62A39AC3DC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4939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591286-B1AA-4FB5-8C57-7C62A39AC3DC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130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7200" algn="just">
              <a:lnSpc>
                <a:spcPct val="120000"/>
              </a:lnSpc>
              <a:buClr>
                <a:srgbClr val="910829"/>
              </a:buClr>
            </a:pPr>
            <a:r>
              <a:rPr lang="ru-RU" sz="900" dirty="0" smtClean="0"/>
              <a:t>В корпоративной базе данных накапливается значительный объем предложений, характеризующихся отсутствием структуры, наличием смысловых дубликатов, неочевидной бизнес-ценностью и отсутствием закрепленных исполнителей. Внедрение ИИ-системы направлено на трансформацию хаотичного потока инициатив в управляемую систему задач с автоматической </a:t>
            </a:r>
            <a:r>
              <a:rPr lang="ru-RU" sz="900" dirty="0" err="1" smtClean="0"/>
              <a:t>приоритезацией</a:t>
            </a:r>
            <a:r>
              <a:rPr lang="ru-RU" sz="900" dirty="0" smtClean="0"/>
              <a:t>.</a:t>
            </a:r>
          </a:p>
          <a:p>
            <a:pPr indent="457200" algn="just">
              <a:lnSpc>
                <a:spcPct val="120000"/>
              </a:lnSpc>
              <a:buClr>
                <a:srgbClr val="910829"/>
              </a:buClr>
            </a:pPr>
            <a:endParaRPr lang="ru-RU" sz="900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591286-B1AA-4FB5-8C57-7C62A39AC3DC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9285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9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591286-B1AA-4FB5-8C57-7C62A39AC3DC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3638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591286-B1AA-4FB5-8C57-7C62A39AC3DC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4409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591286-B1AA-4FB5-8C57-7C62A39AC3DC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3540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Сначала текст разбивается на </a:t>
            </a:r>
            <a:r>
              <a:rPr lang="ru-RU" dirty="0" err="1" smtClean="0"/>
              <a:t>токены</a:t>
            </a:r>
            <a:r>
              <a:rPr lang="ru-RU" dirty="0" smtClean="0"/>
              <a:t> — это могут быть слова или части слов.</a:t>
            </a:r>
          </a:p>
          <a:p>
            <a:endParaRPr lang="ru-RU" dirty="0" smtClean="0"/>
          </a:p>
          <a:p>
            <a:r>
              <a:rPr lang="ru-RU" dirty="0" smtClean="0"/>
              <a:t>В начало добавляется </a:t>
            </a:r>
            <a:r>
              <a:rPr lang="ru-RU" dirty="0" err="1" smtClean="0"/>
              <a:t>токен</a:t>
            </a:r>
            <a:r>
              <a:rPr lang="ru-RU" dirty="0" smtClean="0"/>
              <a:t> [CLS], который используется для классификации,</a:t>
            </a:r>
            <a:br>
              <a:rPr lang="ru-RU" dirty="0" smtClean="0"/>
            </a:br>
            <a:r>
              <a:rPr lang="ru-RU" dirty="0" smtClean="0"/>
              <a:t>а в конец — [SEP], обозначающий конец последовательности.</a:t>
            </a:r>
          </a:p>
          <a:p>
            <a:endParaRPr lang="ru-RU" dirty="0" smtClean="0"/>
          </a:p>
          <a:p>
            <a:r>
              <a:rPr lang="ru-RU" dirty="0" smtClean="0"/>
              <a:t>Каждый </a:t>
            </a:r>
            <a:r>
              <a:rPr lang="ru-RU" dirty="0" err="1" smtClean="0"/>
              <a:t>токен</a:t>
            </a:r>
            <a:r>
              <a:rPr lang="ru-RU" dirty="0" smtClean="0"/>
              <a:t> преобразуется в вектор фиксированной размерности.</a:t>
            </a:r>
            <a:br>
              <a:rPr lang="ru-RU" dirty="0" smtClean="0"/>
            </a:br>
            <a:r>
              <a:rPr lang="ru-RU" dirty="0" smtClean="0"/>
              <a:t>Также добавляется информация о позиции слова в предложении.</a:t>
            </a:r>
          </a:p>
          <a:p>
            <a:endParaRPr lang="ru-RU" dirty="0" smtClean="0"/>
          </a:p>
          <a:p>
            <a:r>
              <a:rPr lang="ru-RU" dirty="0" smtClean="0"/>
              <a:t>Далее данные проходят через несколько слоёв </a:t>
            </a:r>
            <a:r>
              <a:rPr lang="ru-RU" dirty="0" err="1" smtClean="0"/>
              <a:t>трансформера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Внутри используется механизм </a:t>
            </a:r>
            <a:r>
              <a:rPr lang="ru-RU" dirty="0" err="1" smtClean="0"/>
              <a:t>self-attention</a:t>
            </a:r>
            <a:r>
              <a:rPr lang="ru-RU" dirty="0" smtClean="0"/>
              <a:t>, который позволяет модели учитывать взаимосвязи между словами в тексте.</a:t>
            </a:r>
          </a:p>
          <a:p>
            <a:endParaRPr lang="ru-RU" dirty="0" smtClean="0"/>
          </a:p>
          <a:p>
            <a:r>
              <a:rPr lang="ru-RU" dirty="0" smtClean="0"/>
              <a:t>После прохождения через модель берётся вектор, соответствующий </a:t>
            </a:r>
            <a:r>
              <a:rPr lang="ru-RU" dirty="0" err="1" smtClean="0"/>
              <a:t>токену</a:t>
            </a:r>
            <a:r>
              <a:rPr lang="ru-RU" dirty="0" smtClean="0"/>
              <a:t> [CLS].</a:t>
            </a:r>
            <a:br>
              <a:rPr lang="ru-RU" dirty="0" smtClean="0"/>
            </a:br>
            <a:r>
              <a:rPr lang="ru-RU" dirty="0" smtClean="0"/>
              <a:t>Он содержит обобщённую информацию обо всём тексте.</a:t>
            </a:r>
          </a:p>
          <a:p>
            <a:endParaRPr lang="ru-RU" dirty="0" smtClean="0"/>
          </a:p>
          <a:p>
            <a:r>
              <a:rPr lang="ru-RU" dirty="0" smtClean="0"/>
              <a:t>Этот вектор подаётся на </a:t>
            </a:r>
            <a:r>
              <a:rPr lang="ru-RU" dirty="0" err="1" smtClean="0"/>
              <a:t>полносвязный</a:t>
            </a:r>
            <a:r>
              <a:rPr lang="ru-RU" dirty="0" smtClean="0"/>
              <a:t> слой, который преобразует его в набор чисел — по одному на каждый класс.</a:t>
            </a:r>
          </a:p>
          <a:p>
            <a:endParaRPr lang="ru-RU" dirty="0" smtClean="0"/>
          </a:p>
          <a:p>
            <a:r>
              <a:rPr lang="ru-RU" dirty="0" smtClean="0"/>
              <a:t>Так как задача </a:t>
            </a:r>
            <a:r>
              <a:rPr lang="ru-RU" dirty="0" err="1" smtClean="0"/>
              <a:t>многометочная</a:t>
            </a:r>
            <a:r>
              <a:rPr lang="ru-RU" dirty="0" smtClean="0"/>
              <a:t>, используется функция </a:t>
            </a:r>
            <a:r>
              <a:rPr lang="ru-RU" dirty="0" err="1" smtClean="0"/>
              <a:t>sigmoid</a:t>
            </a:r>
            <a:r>
              <a:rPr lang="ru-RU" dirty="0" smtClean="0"/>
              <a:t>,</a:t>
            </a:r>
            <a:br>
              <a:rPr lang="ru-RU" dirty="0" smtClean="0"/>
            </a:br>
            <a:r>
              <a:rPr lang="ru-RU" dirty="0" smtClean="0"/>
              <a:t>которая даёт вероятность для каждого исполнителя независимо.</a:t>
            </a:r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591286-B1AA-4FB5-8C57-7C62A39AC3DC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0088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Используемый инструментарий:</a:t>
            </a:r>
          </a:p>
          <a:p>
            <a:endParaRPr lang="ru-RU" dirty="0" smtClean="0"/>
          </a:p>
          <a:p>
            <a:r>
              <a:rPr lang="ru-RU" dirty="0" smtClean="0"/>
              <a:t>Для</a:t>
            </a:r>
            <a:r>
              <a:rPr lang="ru-RU" baseline="0" dirty="0" smtClean="0"/>
              <a:t> разработки использовалась программная платформа </a:t>
            </a:r>
            <a:r>
              <a:rPr lang="en-US" baseline="0" dirty="0" smtClean="0"/>
              <a:t>Django </a:t>
            </a:r>
            <a:r>
              <a:rPr lang="ru-RU" baseline="0" dirty="0" smtClean="0"/>
              <a:t>с использованием </a:t>
            </a:r>
            <a:r>
              <a:rPr lang="en-US" baseline="0" dirty="0" smtClean="0"/>
              <a:t>Django Rest Framework</a:t>
            </a:r>
            <a:r>
              <a:rPr lang="ru-RU" baseline="0" dirty="0" smtClean="0"/>
              <a:t>.</a:t>
            </a:r>
          </a:p>
          <a:p>
            <a:r>
              <a:rPr lang="ru-RU" baseline="0" dirty="0" smtClean="0"/>
              <a:t>Для хранения данных </a:t>
            </a:r>
            <a:r>
              <a:rPr lang="en-US" baseline="0" dirty="0" smtClean="0"/>
              <a:t>PostgreSQL</a:t>
            </a:r>
            <a:r>
              <a:rPr lang="ru-RU" baseline="0" dirty="0" smtClean="0"/>
              <a:t>.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591286-B1AA-4FB5-8C57-7C62A39AC3DC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17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591286-B1AA-4FB5-8C57-7C62A39AC3DC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1164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Спасибо</a:t>
            </a:r>
            <a:r>
              <a:rPr lang="ru-RU" baseline="0" dirty="0" smtClean="0"/>
              <a:t> за внимание!</a:t>
            </a:r>
          </a:p>
          <a:p>
            <a:r>
              <a:rPr lang="ru-RU" baseline="0" dirty="0" smtClean="0"/>
              <a:t>Прошу задавайте вопросы.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591286-B1AA-4FB5-8C57-7C62A39AC3DC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4588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32406" y="2143889"/>
            <a:ext cx="6858000" cy="1251213"/>
          </a:xfrm>
        </p:spPr>
        <p:txBody>
          <a:bodyPr anchor="b"/>
          <a:lstStyle>
            <a:lvl1pPr algn="l">
              <a:lnSpc>
                <a:spcPct val="100000"/>
              </a:lnSpc>
              <a:defRPr sz="45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932406" y="3525592"/>
            <a:ext cx="6858000" cy="509034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800">
                <a:latin typeface="PermianSansTypeface" panose="02000000000000000000" pitchFamily="50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729563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7741267" y="171774"/>
            <a:ext cx="496566" cy="521168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226879" y="-21035"/>
            <a:ext cx="917122" cy="962561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7929363" y="483115"/>
            <a:ext cx="715735" cy="7511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8349343" y="3876850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575419" y="3485148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8122999" y="4248515"/>
            <a:ext cx="744764" cy="781663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7537051" y="2961162"/>
            <a:ext cx="446477" cy="468597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7845147" y="2815926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8469912" y="1885553"/>
            <a:ext cx="276760" cy="290472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281354" y="4476791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-136279" y="4549867"/>
            <a:ext cx="496566" cy="521168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7925174" y="4570648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37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273843"/>
            <a:ext cx="9144000" cy="994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628650" y="1388746"/>
            <a:ext cx="7886700" cy="320587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3532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3398" y="393700"/>
            <a:ext cx="2738001" cy="153868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058521" y="1031479"/>
            <a:ext cx="3643313" cy="5536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4020423" y="2278063"/>
            <a:ext cx="5123578" cy="2427287"/>
          </a:xfrm>
          <a:noFill/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841533" y="2278063"/>
            <a:ext cx="2904967" cy="2427287"/>
          </a:xfrm>
          <a:noFill/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27001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713741" y="393700"/>
            <a:ext cx="430259" cy="45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230672" y="172322"/>
            <a:ext cx="210927" cy="221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847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741364"/>
            <a:ext cx="6457950" cy="2560637"/>
          </a:xfrm>
          <a:noFill/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5777349" y="1185664"/>
            <a:ext cx="2738001" cy="1538684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628650" y="3635971"/>
            <a:ext cx="2057400" cy="5536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3399040" y="3617428"/>
            <a:ext cx="2057400" cy="5536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6121666" y="3615902"/>
            <a:ext cx="2057400" cy="5536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7805" y="2382086"/>
            <a:ext cx="144260" cy="1514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258709" y="505950"/>
            <a:ext cx="430259" cy="45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4947970" y="163711"/>
            <a:ext cx="276760" cy="290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433868" y="2381832"/>
            <a:ext cx="144260" cy="1514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156494" y="2384075"/>
            <a:ext cx="144260" cy="1514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528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9733" y="1858566"/>
            <a:ext cx="3643313" cy="2139553"/>
          </a:xfrm>
        </p:spPr>
        <p:txBody>
          <a:bodyPr anchor="b"/>
          <a:lstStyle>
            <a:lvl1pPr>
              <a:lnSpc>
                <a:spcPct val="10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09733" y="4018360"/>
            <a:ext cx="3643313" cy="55364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6604000" y="0"/>
            <a:ext cx="2311400" cy="5143500"/>
          </a:xfrm>
          <a:noFill/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4216401" y="0"/>
            <a:ext cx="2298700" cy="5143500"/>
          </a:xfrm>
          <a:noFill/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2984973" y="224529"/>
            <a:ext cx="496566" cy="521168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466494" y="0"/>
            <a:ext cx="917122" cy="962561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3173069" y="535870"/>
            <a:ext cx="715735" cy="7511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8939744" y="4549256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522111" y="4622332"/>
            <a:ext cx="496566" cy="521168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01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628651" y="1686322"/>
            <a:ext cx="2901950" cy="177085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3949699" y="596901"/>
            <a:ext cx="4470401" cy="1193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3949699" y="1974850"/>
            <a:ext cx="4470401" cy="1193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3949699" y="3352800"/>
            <a:ext cx="4470401" cy="1193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3949304" y="596503"/>
            <a:ext cx="1562100" cy="1194197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3949304" y="1974453"/>
            <a:ext cx="1562100" cy="1194197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3949304" y="3352600"/>
            <a:ext cx="1562100" cy="1194197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5695950" y="762142"/>
            <a:ext cx="2057400" cy="5536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5695950" y="2126056"/>
            <a:ext cx="2057400" cy="5536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5695950" y="3511608"/>
            <a:ext cx="2057400" cy="5536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8328445" y="4045848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076434" y="4781331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3228847" y="3352601"/>
            <a:ext cx="446477" cy="468597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536943" y="3207364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7881967" y="266885"/>
            <a:ext cx="446477" cy="468597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204971" y="370914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8724072" y="1009946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8732769" y="3740918"/>
            <a:ext cx="663241" cy="696101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49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183524" y="-183524"/>
            <a:ext cx="9504609" cy="5554015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7209" y="2096396"/>
            <a:ext cx="4463143" cy="994172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3031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28950" y="273844"/>
            <a:ext cx="5486400" cy="994172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28950" y="1369219"/>
            <a:ext cx="5486400" cy="326350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188687" y="0"/>
            <a:ext cx="2619828" cy="5143500"/>
          </a:xfrm>
          <a:noFill/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41113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28950" y="273844"/>
            <a:ext cx="5486400" cy="994172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28950" y="1480458"/>
            <a:ext cx="5486400" cy="4354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188687" y="0"/>
            <a:ext cx="2619828" cy="5143500"/>
          </a:xfrm>
          <a:noFill/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3223" y="4632722"/>
            <a:ext cx="305159" cy="320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493846" y="4535601"/>
            <a:ext cx="185072" cy="1942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195488" y="145426"/>
            <a:ext cx="390404" cy="409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3028950" y="1915886"/>
            <a:ext cx="5486400" cy="4354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3028950" y="2650672"/>
            <a:ext cx="5486400" cy="4354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3028950" y="3086101"/>
            <a:ext cx="5486400" cy="4354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3028950" y="3837214"/>
            <a:ext cx="5486400" cy="4354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3028950" y="4272643"/>
            <a:ext cx="5486400" cy="43542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70BE3A-0252-4F23-A106-691215AB495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7678365" y="4732734"/>
            <a:ext cx="1276947" cy="273844"/>
          </a:xfrm>
        </p:spPr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023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1632858"/>
            <a:ext cx="3694339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821012" y="1632858"/>
            <a:ext cx="3694339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971648" y="1453075"/>
            <a:ext cx="1008342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6125613" y="1412170"/>
            <a:ext cx="1085134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20861" y="2135048"/>
            <a:ext cx="3224390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20861" y="2752982"/>
            <a:ext cx="3224390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5011861" y="2135048"/>
            <a:ext cx="3224390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5011861" y="2752982"/>
            <a:ext cx="3224390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392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1632858"/>
            <a:ext cx="223429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54854" y="1632858"/>
            <a:ext cx="223429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281057" y="1632857"/>
            <a:ext cx="223429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lnSpc>
                <a:spcPct val="100000"/>
              </a:lnSpc>
            </a:pPr>
            <a:endParaRPr lang="ru-RU" dirty="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310368" y="1453075"/>
            <a:ext cx="870857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136571" y="1412170"/>
            <a:ext cx="870857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62775" y="1412170"/>
            <a:ext cx="870857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771355" y="2135048"/>
            <a:ext cx="1950074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771355" y="2752982"/>
            <a:ext cx="1950074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596198" y="2135048"/>
            <a:ext cx="1950074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596198" y="2752982"/>
            <a:ext cx="1950074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421041" y="2132750"/>
            <a:ext cx="1950074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421041" y="2750685"/>
            <a:ext cx="1950074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585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508907" y="1632858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2578213" y="1632858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4639410" y="1632857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03539" y="1453075"/>
            <a:ext cx="752189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172844" y="1412170"/>
            <a:ext cx="752189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5234041" y="1412170"/>
            <a:ext cx="752189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651613" y="2135048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51613" y="2752982"/>
            <a:ext cx="1684343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2719558" y="2135048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2719558" y="2752982"/>
            <a:ext cx="1684343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4779394" y="2132750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4779394" y="2750685"/>
            <a:ext cx="1684343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6709227" y="1632857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7303858" y="1412170"/>
            <a:ext cx="752189" cy="626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6849211" y="2132750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6849211" y="2750685"/>
            <a:ext cx="1684343" cy="21782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94902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1632858"/>
            <a:ext cx="3694339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426415"/>
            <a:ext cx="7886700" cy="994172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821012" y="1632858"/>
            <a:ext cx="3694339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20861" y="1770206"/>
            <a:ext cx="3224390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20861" y="2525490"/>
            <a:ext cx="3224390" cy="240573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5011861" y="1770206"/>
            <a:ext cx="3224390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5011861" y="2525490"/>
            <a:ext cx="3224390" cy="240573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7800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28650" y="1632858"/>
            <a:ext cx="223429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424117"/>
            <a:ext cx="7886700" cy="994172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54854" y="1632858"/>
            <a:ext cx="223429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lnSpc>
                <a:spcPct val="100000"/>
              </a:lnSpc>
            </a:pPr>
            <a:endParaRPr lang="ru-RU" dirty="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281057" y="1632857"/>
            <a:ext cx="223429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771355" y="1635154"/>
            <a:ext cx="1950074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771355" y="2375383"/>
            <a:ext cx="1950074" cy="255584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596198" y="1635154"/>
            <a:ext cx="1950074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596198" y="2375383"/>
            <a:ext cx="1950074" cy="255584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421041" y="1632857"/>
            <a:ext cx="1950074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421041" y="2373086"/>
            <a:ext cx="1950074" cy="255584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1331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508907" y="1632858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424117"/>
            <a:ext cx="7886700" cy="994172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2578213" y="1632858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4639410" y="1632857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651613" y="1715351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51613" y="2413482"/>
            <a:ext cx="1684343" cy="25177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2719558" y="1715351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2719558" y="2413482"/>
            <a:ext cx="1684343" cy="25177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4779394" y="1713053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4779394" y="2411185"/>
            <a:ext cx="1684343" cy="25177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6709227" y="1632857"/>
            <a:ext cx="1929833" cy="35106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6849211" y="1713053"/>
            <a:ext cx="1684343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6849211" y="2411185"/>
            <a:ext cx="1684343" cy="25177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10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9613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3398" y="393700"/>
            <a:ext cx="2738001" cy="153868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4020423" y="2278063"/>
            <a:ext cx="5123578" cy="2427287"/>
          </a:xfrm>
          <a:noFill/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841533" y="2278063"/>
            <a:ext cx="2904967" cy="2427287"/>
          </a:xfrm>
          <a:noFill/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27001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4020422" y="0"/>
            <a:ext cx="5123578" cy="2024743"/>
          </a:xfrm>
          <a:noFill/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177431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4572001" cy="514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4975963" y="744141"/>
            <a:ext cx="3743495" cy="3655219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1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445636" y="522514"/>
            <a:ext cx="3680390" cy="4107485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43632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704851" y="1418289"/>
            <a:ext cx="1959428" cy="3102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424117"/>
            <a:ext cx="7807437" cy="994172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935832" y="1646887"/>
            <a:ext cx="1959769" cy="3080147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475264" y="1418289"/>
            <a:ext cx="1959428" cy="3102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3706245" y="1646887"/>
            <a:ext cx="1959769" cy="3080147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6245338" y="1446777"/>
            <a:ext cx="1959428" cy="31024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6476319" y="1675376"/>
            <a:ext cx="1959769" cy="3080147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40006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6556" y="1911294"/>
            <a:ext cx="2405742" cy="120015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3037115" y="-3573"/>
            <a:ext cx="6106886" cy="32148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3037116" y="3211116"/>
            <a:ext cx="6106885" cy="1932384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242413" y="342900"/>
            <a:ext cx="5531473" cy="250915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FFFFFF"/>
                </a:solidFill>
              </a:defRPr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6557" y="2339824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602633" y="1948123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7589332" y="2722483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270007" y="1890884"/>
            <a:ext cx="220727" cy="2316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5733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6556" y="1225328"/>
            <a:ext cx="2405742" cy="120015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3037115" y="-3573"/>
            <a:ext cx="6106886" cy="5147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455541" y="4309471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681617" y="3917770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7668316" y="4692130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245829" y="1041799"/>
            <a:ext cx="220727" cy="2316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3472543" y="762000"/>
            <a:ext cx="4982998" cy="354747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3559969" y="859632"/>
            <a:ext cx="4816079" cy="3299222"/>
          </a:xfrm>
        </p:spPr>
        <p:txBody>
          <a:bodyPr/>
          <a:lstStyle/>
          <a:p>
            <a:r>
              <a:rPr lang="ru-RU" dirty="0"/>
              <a:t>Вставка диаграммы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466556" y="2609006"/>
            <a:ext cx="2405742" cy="130876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342900" indent="0">
              <a:buNone/>
              <a:defRPr sz="1200"/>
            </a:lvl2pPr>
            <a:lvl3pPr marL="685800" indent="0">
              <a:buNone/>
              <a:defRPr sz="1100"/>
            </a:lvl3pPr>
            <a:lvl4pPr marL="1028700" indent="0">
              <a:buNone/>
              <a:defRPr sz="900"/>
            </a:lvl4pPr>
            <a:lvl5pPr>
              <a:defRPr sz="90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37585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1750" y="630011"/>
            <a:ext cx="4841736" cy="84884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7979229" y="4158854"/>
            <a:ext cx="1164771" cy="993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56192" y="242808"/>
            <a:ext cx="220727" cy="2316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731750" y="1709057"/>
            <a:ext cx="7582529" cy="2219599"/>
          </a:xfrm>
        </p:spPr>
        <p:txBody>
          <a:bodyPr/>
          <a:lstStyle/>
          <a:p>
            <a:r>
              <a:rPr lang="ru-RU" dirty="0"/>
              <a:t>Вставка диаграммы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1" y="4158853"/>
            <a:ext cx="7956947" cy="984647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31750" y="0"/>
            <a:ext cx="335051" cy="35165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4937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3398" y="393700"/>
            <a:ext cx="2738001" cy="153868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003257" y="2245406"/>
            <a:ext cx="2713581" cy="1578428"/>
          </a:xfrm>
          <a:noFill/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245406"/>
            <a:ext cx="1003257" cy="15784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3716838" y="2245406"/>
            <a:ext cx="2713581" cy="1578428"/>
          </a:xfrm>
          <a:noFill/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6430419" y="2245406"/>
            <a:ext cx="2713581" cy="1578428"/>
          </a:xfrm>
          <a:noFill/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331348" y="3995200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4044929" y="3995200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6758510" y="3995200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8229600" y="393700"/>
            <a:ext cx="346813" cy="3639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690347" y="838284"/>
            <a:ext cx="251126" cy="263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877694" y="4140235"/>
            <a:ext cx="251126" cy="263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0844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5463609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63610" y="1"/>
            <a:ext cx="3680390" cy="2209800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5463610" y="2209801"/>
            <a:ext cx="3680390" cy="1839685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5463610" y="4049485"/>
            <a:ext cx="3680390" cy="1094015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447505" y="1545772"/>
            <a:ext cx="4559923" cy="3214348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1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5" y="420007"/>
            <a:ext cx="4164029" cy="9017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1011" y="4329157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643215" y="4543268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334913" y="3681845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885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8186057" y="0"/>
            <a:ext cx="957943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8164116" cy="2601686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393372" y="2864757"/>
            <a:ext cx="489857" cy="5141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609599" y="3483571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3761014" y="2864757"/>
            <a:ext cx="489857" cy="5141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2977241" y="3483571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6128656" y="2864757"/>
            <a:ext cx="489857" cy="5141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5344883" y="3483571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66410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8050" y="2111828"/>
            <a:ext cx="1406171" cy="2339556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6" y="708008"/>
            <a:ext cx="3689067" cy="9017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4341610" y="0"/>
            <a:ext cx="4299857" cy="51435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4572001" y="420007"/>
            <a:ext cx="3762615" cy="4337051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1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427985" y="2111828"/>
            <a:ext cx="1490102" cy="2339556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2926763" y="2111828"/>
            <a:ext cx="1406171" cy="2339556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950170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4060372" y="1"/>
            <a:ext cx="5083628" cy="5143499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080657" y="867152"/>
            <a:ext cx="2612572" cy="1517662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6092166" y="867152"/>
            <a:ext cx="2612572" cy="1517662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18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3080657" y="2832023"/>
            <a:ext cx="2612572" cy="1517662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18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6092166" y="2832023"/>
            <a:ext cx="2612572" cy="1517662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18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473284" y="1529951"/>
            <a:ext cx="2738001" cy="1538684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622329" y="4691924"/>
            <a:ext cx="430259" cy="45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311590" y="4349684"/>
            <a:ext cx="276760" cy="2904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309946" y="478810"/>
            <a:ext cx="176475" cy="1852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5266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5" y="420007"/>
            <a:ext cx="8163095" cy="90170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1011" y="4470672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643215" y="4543269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84972" y="3496676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8105" y="1838535"/>
            <a:ext cx="1469573" cy="1542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834191" y="3483458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3876748" y="1838535"/>
            <a:ext cx="1469573" cy="1542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3582834" y="3483458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6625390" y="1838535"/>
            <a:ext cx="1469573" cy="1542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6331477" y="3483458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7857835" y="-27705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8508084" y="560851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16891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9144001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5" y="420007"/>
            <a:ext cx="8163095" cy="90170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1011" y="4470672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643215" y="4543269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84972" y="3496676"/>
            <a:ext cx="276760" cy="290472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834191" y="3483458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3582834" y="3483458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6331477" y="3483458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7857835" y="-27705"/>
            <a:ext cx="794657" cy="834029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8508084" y="560851"/>
            <a:ext cx="430259" cy="45157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093747" y="1838325"/>
            <a:ext cx="1538288" cy="1543050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3842390" y="1838325"/>
            <a:ext cx="1538288" cy="1543050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6591033" y="1838325"/>
            <a:ext cx="1538288" cy="1543050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657481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6501408" y="1866872"/>
            <a:ext cx="1524001" cy="15403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3767052" y="1866872"/>
            <a:ext cx="1524001" cy="15403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001486" y="1855986"/>
            <a:ext cx="1524001" cy="15403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447505" y="550636"/>
            <a:ext cx="8163095" cy="901700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834191" y="3614087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3582834" y="3614087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6331477" y="3614087"/>
            <a:ext cx="2057400" cy="55364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093747" y="1968954"/>
            <a:ext cx="1538288" cy="1543050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3842390" y="1968954"/>
            <a:ext cx="1538288" cy="1543050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6591033" y="1968954"/>
            <a:ext cx="1538288" cy="1543050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06714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1"/>
            <a:ext cx="4582886" cy="2605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353822" y="1448301"/>
            <a:ext cx="3875241" cy="457554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4582885" y="1"/>
            <a:ext cx="4561115" cy="2605199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2605200"/>
            <a:ext cx="4582886" cy="2605199"/>
          </a:xfr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4582885" y="2605200"/>
            <a:ext cx="4582886" cy="2605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ru-RU" dirty="0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353822" y="748960"/>
            <a:ext cx="3875241" cy="55364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5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4936708" y="4028693"/>
            <a:ext cx="3875241" cy="457554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4936708" y="3329351"/>
            <a:ext cx="3875241" cy="55364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5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407471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91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5452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2"/>
          </p:nvPr>
        </p:nvSpPr>
        <p:spPr>
          <a:xfrm>
            <a:off x="628650" y="4733925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8037" y="4733925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357037" y="4733925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295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60" r:id="rId3"/>
    <p:sldLayoutId id="2147483655" r:id="rId4"/>
    <p:sldLayoutId id="2147483651" r:id="rId5"/>
    <p:sldLayoutId id="2147483661" r:id="rId6"/>
    <p:sldLayoutId id="2147483654" r:id="rId7"/>
    <p:sldLayoutId id="2147483650" r:id="rId8"/>
    <p:sldLayoutId id="2147483679" r:id="rId9"/>
    <p:sldLayoutId id="2147483663" r:id="rId10"/>
    <p:sldLayoutId id="2147483652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53" r:id="rId17"/>
    <p:sldLayoutId id="2147483668" r:id="rId18"/>
    <p:sldLayoutId id="2147483656" r:id="rId19"/>
    <p:sldLayoutId id="2147483669" r:id="rId20"/>
    <p:sldLayoutId id="2147483674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6" r:id="rId27"/>
    <p:sldLayoutId id="2147483677" r:id="rId28"/>
    <p:sldLayoutId id="2147483678" r:id="rId29"/>
    <p:sldLayoutId id="2147483680" r:id="rId30"/>
    <p:sldLayoutId id="2147483657" r:id="rId31"/>
  </p:sldLayoutIdLst>
  <p:hf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86849" y="3142016"/>
            <a:ext cx="8281852" cy="936689"/>
          </a:xfrm>
        </p:spPr>
        <p:txBody>
          <a:bodyPr anchor="t">
            <a:normAutofit fontScale="90000"/>
          </a:bodyPr>
          <a:lstStyle/>
          <a:p>
            <a:r>
              <a:rPr lang="ru-RU" sz="1600" b="1" dirty="0" smtClean="0"/>
              <a:t>Выполнила:</a:t>
            </a:r>
            <a:r>
              <a:rPr lang="ru-RU" sz="1600" b="1" dirty="0"/>
              <a:t/>
            </a:r>
            <a:br>
              <a:rPr lang="ru-RU" sz="1600" b="1" dirty="0"/>
            </a:br>
            <a:r>
              <a:rPr lang="ru-RU" sz="1600" b="1" dirty="0"/>
              <a:t>студент </a:t>
            </a:r>
            <a:r>
              <a:rPr lang="ru-RU" sz="1600" b="1" dirty="0" smtClean="0"/>
              <a:t>1 </a:t>
            </a:r>
            <a:r>
              <a:rPr lang="ru-RU" sz="1600" b="1" dirty="0"/>
              <a:t>курса </a:t>
            </a:r>
            <a:r>
              <a:rPr lang="ru-RU" sz="1600" b="1" dirty="0" smtClean="0"/>
              <a:t>магистратуры физико-математического института </a:t>
            </a:r>
            <a:r>
              <a:rPr lang="ru-RU" sz="1600" b="1" dirty="0"/>
              <a:t>группы </a:t>
            </a:r>
            <a:r>
              <a:rPr lang="ru-RU" sz="1600" b="1" dirty="0" smtClean="0"/>
              <a:t>ПМИ-1</a:t>
            </a:r>
            <a:r>
              <a:rPr lang="ru-RU" sz="1600" b="1" dirty="0"/>
              <a:t/>
            </a:r>
            <a:br>
              <a:rPr lang="ru-RU" sz="1600" b="1" dirty="0"/>
            </a:br>
            <a:r>
              <a:rPr lang="ru-RU" sz="1600" b="1" dirty="0" smtClean="0"/>
              <a:t>Макарова Полина Фёдоровна</a:t>
            </a:r>
            <a:endParaRPr lang="ru-RU" sz="1600" b="1" dirty="0"/>
          </a:p>
        </p:txBody>
      </p:sp>
      <p:pic>
        <p:nvPicPr>
          <p:cNvPr id="2050" name="Picture 2" descr="X:\ОНИП\Презентация ПГНИУ\Фирстиль\Логотип ПГНИУ белый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82" y="416100"/>
            <a:ext cx="1494176" cy="149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42672" y="2044674"/>
            <a:ext cx="63702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Система </a:t>
            </a:r>
            <a:r>
              <a:rPr lang="ru-RU" sz="2800" b="1" dirty="0" err="1" smtClean="0">
                <a:solidFill>
                  <a:schemeClr val="bg1"/>
                </a:solidFill>
              </a:rPr>
              <a:t>Кайдзен</a:t>
            </a:r>
            <a:r>
              <a:rPr lang="ru-RU" sz="2800" b="1" dirty="0" smtClean="0">
                <a:solidFill>
                  <a:schemeClr val="bg1"/>
                </a:solidFill>
              </a:rPr>
              <a:t>-предложений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8C31C234-62B7-4431-81DD-D42FD38594D1}"/>
              </a:ext>
            </a:extLst>
          </p:cNvPr>
          <p:cNvSpPr txBox="1">
            <a:spLocks/>
          </p:cNvSpPr>
          <p:nvPr/>
        </p:nvSpPr>
        <p:spPr>
          <a:xfrm>
            <a:off x="486849" y="4213103"/>
            <a:ext cx="7566401" cy="853005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5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b="1" dirty="0">
                <a:solidFill>
                  <a:srgbClr val="910829"/>
                </a:solidFill>
              </a:rPr>
              <a:t>Научный руководитель: </a:t>
            </a:r>
          </a:p>
          <a:p>
            <a:r>
              <a:rPr lang="ru-RU" sz="1600" b="1" dirty="0">
                <a:solidFill>
                  <a:srgbClr val="910829"/>
                </a:solidFill>
              </a:rPr>
              <a:t>к.т.н. Селетков Илья Павлович</a:t>
            </a:r>
          </a:p>
        </p:txBody>
      </p:sp>
    </p:spTree>
    <p:extLst>
      <p:ext uri="{BB962C8B-B14F-4D97-AF65-F5344CB8AC3E}">
        <p14:creationId xmlns:p14="http://schemas.microsoft.com/office/powerpoint/2010/main" val="182768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kumimoji="0" lang="ru-RU" altLang="ru-RU" sz="2700" dirty="0">
                <a:ea typeface="Arial" panose="020B0604020202020204" pitchFamily="34" charset="0"/>
              </a:rPr>
              <a:t>Введение</a:t>
            </a:r>
            <a:endParaRPr kumimoji="0" lang="en-US" altLang="ru-RU" sz="2700" dirty="0">
              <a:ea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975674-F990-44FF-BFA0-3B08B34F06EB}"/>
              </a:ext>
            </a:extLst>
          </p:cNvPr>
          <p:cNvSpPr txBox="1"/>
          <p:nvPr/>
        </p:nvSpPr>
        <p:spPr>
          <a:xfrm>
            <a:off x="8229600" y="4774474"/>
            <a:ext cx="77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mtClean="0">
                <a:solidFill>
                  <a:srgbClr val="910829"/>
                </a:solidFill>
              </a:rPr>
              <a:pPr algn="r"/>
              <a:t>2</a:t>
            </a:fld>
            <a:r>
              <a:rPr lang="ru-RU" dirty="0" smtClean="0">
                <a:solidFill>
                  <a:srgbClr val="910829"/>
                </a:solidFill>
              </a:rPr>
              <a:t>/9</a:t>
            </a:r>
            <a:endParaRPr lang="ru-RU" dirty="0">
              <a:solidFill>
                <a:srgbClr val="910829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61224" y="1191985"/>
            <a:ext cx="8281851" cy="245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Clr>
                <a:srgbClr val="910829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Ручное назначение исполнителей на рационализаторские предложения («</a:t>
            </a:r>
            <a:r>
              <a:rPr lang="ru-RU" sz="1600" dirty="0" err="1"/>
              <a:t>кайдзен</a:t>
            </a:r>
            <a:r>
              <a:rPr lang="ru-RU" sz="1600" dirty="0" smtClean="0"/>
              <a:t>»*) </a:t>
            </a:r>
            <a:r>
              <a:rPr lang="ru-RU" sz="1600" dirty="0"/>
              <a:t>занимает много времени и приводит к </a:t>
            </a:r>
            <a:r>
              <a:rPr lang="ru-RU" sz="1600" dirty="0" smtClean="0"/>
              <a:t>ошибкам.</a:t>
            </a:r>
            <a:endParaRPr lang="ru-RU" sz="1600" dirty="0"/>
          </a:p>
          <a:p>
            <a:pPr marL="285750" indent="-285750" algn="just">
              <a:lnSpc>
                <a:spcPct val="120000"/>
              </a:lnSpc>
              <a:buClr>
                <a:srgbClr val="910829"/>
              </a:buClr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 algn="just">
              <a:lnSpc>
                <a:spcPct val="120000"/>
              </a:lnSpc>
              <a:buClr>
                <a:srgbClr val="910829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На предприятии </a:t>
            </a:r>
            <a:r>
              <a:rPr lang="ru-RU" sz="1600" dirty="0" smtClean="0"/>
              <a:t>накапливается большое кол-во предложений (</a:t>
            </a:r>
            <a:r>
              <a:rPr lang="en-US" sz="1600" dirty="0" smtClean="0"/>
              <a:t>&gt; 1500</a:t>
            </a:r>
            <a:r>
              <a:rPr lang="ru-RU" sz="1600" dirty="0" smtClean="0"/>
              <a:t>), </a:t>
            </a:r>
            <a:r>
              <a:rPr lang="ru-RU" sz="1600" dirty="0"/>
              <a:t>но нет автоматизированного способа определения </a:t>
            </a:r>
            <a:r>
              <a:rPr lang="ru-RU" sz="1600" dirty="0" smtClean="0"/>
              <a:t>исполнителя.</a:t>
            </a:r>
            <a:endParaRPr lang="ru-RU" sz="1600" dirty="0"/>
          </a:p>
          <a:p>
            <a:pPr marL="285750" indent="-285750" algn="just">
              <a:lnSpc>
                <a:spcPct val="120000"/>
              </a:lnSpc>
              <a:buClr>
                <a:srgbClr val="910829"/>
              </a:buClr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 algn="just">
              <a:lnSpc>
                <a:spcPct val="120000"/>
              </a:lnSpc>
              <a:buClr>
                <a:srgbClr val="910829"/>
              </a:buClr>
              <a:buFont typeface="Arial" panose="020B0604020202020204" pitchFamily="34" charset="0"/>
              <a:buChar char="•"/>
            </a:pPr>
            <a:r>
              <a:rPr lang="ru-RU" sz="1600" dirty="0"/>
              <a:t>Применение </a:t>
            </a:r>
            <a:r>
              <a:rPr lang="ru-RU" sz="1600" dirty="0" err="1"/>
              <a:t>нейросетей</a:t>
            </a:r>
            <a:r>
              <a:rPr lang="ru-RU" sz="1600" dirty="0"/>
              <a:t> позволяет извлекать смысл из </a:t>
            </a:r>
            <a:r>
              <a:rPr lang="ru-RU" sz="1600" dirty="0" smtClean="0"/>
              <a:t>текста </a:t>
            </a:r>
            <a:r>
              <a:rPr lang="ru-RU" sz="1600" dirty="0"/>
              <a:t>и предсказывать исполнителя, включая варианты с несколькими </a:t>
            </a:r>
            <a:r>
              <a:rPr lang="ru-RU" sz="1600" dirty="0" smtClean="0"/>
              <a:t>ответственными.</a:t>
            </a:r>
            <a:endParaRPr lang="ru-RU" sz="1600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361224" y="4171232"/>
            <a:ext cx="866523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20000"/>
              </a:lnSpc>
              <a:buClr>
                <a:srgbClr val="910829"/>
              </a:buClr>
            </a:pPr>
            <a:r>
              <a:rPr lang="ru-RU" sz="1200" b="1" i="1" dirty="0" smtClean="0"/>
              <a:t>* </a:t>
            </a:r>
            <a:r>
              <a:rPr lang="ru-RU" sz="1200" b="1" i="1" dirty="0" err="1" smtClean="0"/>
              <a:t>Кайдзен</a:t>
            </a:r>
            <a:r>
              <a:rPr lang="ru-RU" sz="1200" dirty="0" smtClean="0"/>
              <a:t> </a:t>
            </a:r>
            <a:r>
              <a:rPr lang="ru-RU" sz="1200" dirty="0"/>
              <a:t>— японская философия и практика непрерывного улучшения бизнес-процессов, основанная на небольших, но постоянных позитивных изменениях (В переводе с японского «</a:t>
            </a:r>
            <a:r>
              <a:rPr lang="ru-RU" sz="1200" dirty="0" err="1"/>
              <a:t>кайдзен</a:t>
            </a:r>
            <a:r>
              <a:rPr lang="ru-RU" sz="1200" dirty="0"/>
              <a:t>» означает «изменение к лучшему»).</a:t>
            </a:r>
          </a:p>
        </p:txBody>
      </p:sp>
    </p:spTree>
    <p:extLst>
      <p:ext uri="{BB962C8B-B14F-4D97-AF65-F5344CB8AC3E}">
        <p14:creationId xmlns:p14="http://schemas.microsoft.com/office/powerpoint/2010/main" val="4247801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kumimoji="0" lang="ru-RU" altLang="ru-RU" sz="2700" dirty="0">
                <a:ea typeface="Arial" panose="020B0604020202020204" pitchFamily="34" charset="0"/>
              </a:rPr>
              <a:t>Цель работы</a:t>
            </a:r>
            <a:endParaRPr kumimoji="0" lang="en-US" altLang="ru-RU" sz="2700" dirty="0">
              <a:ea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333361" y="1370650"/>
            <a:ext cx="828185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en-US" sz="1600" b="1" dirty="0">
                <a:solidFill>
                  <a:srgbClr val="910829"/>
                </a:solidFill>
              </a:rPr>
              <a:t>Цель</a:t>
            </a:r>
            <a:r>
              <a:rPr lang="ru-RU" altLang="en-US" sz="1600" b="1" dirty="0"/>
              <a:t> </a:t>
            </a:r>
            <a:r>
              <a:rPr lang="ru-RU" altLang="en-US" sz="1600" b="1" dirty="0" smtClean="0"/>
              <a:t>— </a:t>
            </a:r>
            <a:r>
              <a:rPr lang="ru-RU" altLang="en-US" sz="1600" dirty="0" smtClean="0"/>
              <a:t>разработка </a:t>
            </a:r>
            <a:r>
              <a:rPr lang="ru-RU" altLang="en-US" sz="1600" dirty="0"/>
              <a:t>модели на основе </a:t>
            </a:r>
            <a:r>
              <a:rPr lang="ru-RU" altLang="en-US" sz="1600" dirty="0" err="1"/>
              <a:t>нейросетевых</a:t>
            </a:r>
            <a:r>
              <a:rPr lang="ru-RU" altLang="en-US" sz="1600" dirty="0"/>
              <a:t> методов для автоматического определения исполнителей </a:t>
            </a:r>
            <a:r>
              <a:rPr lang="ru-RU" altLang="en-US" sz="1600" dirty="0" err="1"/>
              <a:t>кайдзен</a:t>
            </a:r>
            <a:r>
              <a:rPr lang="ru-RU" altLang="en-US" sz="1600" dirty="0"/>
              <a:t>-предложений по текстовому описанию</a:t>
            </a:r>
            <a:r>
              <a:rPr lang="ru-RU" altLang="en-US" sz="1600" dirty="0" smtClean="0"/>
              <a:t>.</a:t>
            </a:r>
          </a:p>
          <a:p>
            <a:endParaRPr lang="ru-RU" altLang="en-US" sz="1600" dirty="0"/>
          </a:p>
          <a:p>
            <a:r>
              <a:rPr lang="ru-RU" altLang="en-US" sz="1600" b="1" dirty="0">
                <a:solidFill>
                  <a:srgbClr val="910829"/>
                </a:solidFill>
              </a:rPr>
              <a:t>Объект разработки </a:t>
            </a:r>
            <a:r>
              <a:rPr lang="ru-RU" altLang="en-US" sz="1600" dirty="0" smtClean="0">
                <a:solidFill>
                  <a:srgbClr val="910829"/>
                </a:solidFill>
              </a:rPr>
              <a:t> </a:t>
            </a:r>
            <a:r>
              <a:rPr lang="ru-RU" altLang="en-US" sz="1600" dirty="0"/>
              <a:t>— </a:t>
            </a:r>
            <a:r>
              <a:rPr lang="ru-RU" altLang="en-US" sz="1600" dirty="0" smtClean="0"/>
              <a:t>программный </a:t>
            </a:r>
            <a:r>
              <a:rPr lang="ru-RU" altLang="en-US" sz="1600" dirty="0"/>
              <a:t>комплекс на базе технологий искусственного</a:t>
            </a:r>
          </a:p>
          <a:p>
            <a:r>
              <a:rPr lang="ru-RU" altLang="en-US" sz="1600" dirty="0"/>
              <a:t>интеллекта, реализующий </a:t>
            </a:r>
            <a:r>
              <a:rPr lang="ru-RU" altLang="en-US" sz="1600" dirty="0" err="1"/>
              <a:t>мультиагентную</a:t>
            </a:r>
            <a:r>
              <a:rPr lang="ru-RU" altLang="en-US" sz="1600" dirty="0"/>
              <a:t> </a:t>
            </a:r>
            <a:r>
              <a:rPr lang="ru-RU" altLang="en-US" sz="1600" dirty="0" smtClean="0"/>
              <a:t>архитектуру.</a:t>
            </a:r>
          </a:p>
          <a:p>
            <a:endParaRPr lang="ru-RU" altLang="en-US" sz="1600" dirty="0" smtClean="0"/>
          </a:p>
          <a:p>
            <a:r>
              <a:rPr lang="ru-RU" altLang="en-US" sz="1600" b="1" dirty="0" smtClean="0">
                <a:solidFill>
                  <a:srgbClr val="910829"/>
                </a:solidFill>
              </a:rPr>
              <a:t>Назначение разработки</a:t>
            </a:r>
            <a:r>
              <a:rPr lang="ru-RU" altLang="en-US" sz="1600" dirty="0" smtClean="0">
                <a:solidFill>
                  <a:srgbClr val="910829"/>
                </a:solidFill>
              </a:rPr>
              <a:t> </a:t>
            </a:r>
            <a:r>
              <a:rPr lang="ru-RU" altLang="en-US" sz="1600" dirty="0"/>
              <a:t>—</a:t>
            </a:r>
            <a:r>
              <a:rPr lang="ru-RU" altLang="en-US" sz="1600" dirty="0" smtClean="0"/>
              <a:t> комплексная </a:t>
            </a:r>
            <a:r>
              <a:rPr lang="ru-RU" altLang="en-US" sz="1600" dirty="0"/>
              <a:t>автоматизация процессов сбора, первичной </a:t>
            </a:r>
            <a:r>
              <a:rPr lang="ru-RU" altLang="en-US" sz="1600" dirty="0" smtClean="0"/>
              <a:t>обработки, семантического </a:t>
            </a:r>
            <a:r>
              <a:rPr lang="ru-RU" altLang="en-US" sz="1600" dirty="0"/>
              <a:t>анализа, оценки корпоративных </a:t>
            </a:r>
            <a:r>
              <a:rPr lang="ru-RU" altLang="en-US" sz="1600" dirty="0" smtClean="0"/>
              <a:t>инициатив.</a:t>
            </a:r>
            <a:endParaRPr lang="ru-RU" sz="1600" dirty="0" smtClean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ED607-EBC0-44F6-8D67-A03910986606}"/>
              </a:ext>
            </a:extLst>
          </p:cNvPr>
          <p:cNvSpPr txBox="1"/>
          <p:nvPr/>
        </p:nvSpPr>
        <p:spPr>
          <a:xfrm>
            <a:off x="8229600" y="4774474"/>
            <a:ext cx="77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mtClean="0">
                <a:solidFill>
                  <a:srgbClr val="910829"/>
                </a:solidFill>
              </a:rPr>
              <a:pPr algn="r"/>
              <a:t>3</a:t>
            </a:fld>
            <a:r>
              <a:rPr lang="ru-RU" dirty="0" smtClean="0">
                <a:solidFill>
                  <a:srgbClr val="910829"/>
                </a:solidFill>
              </a:rPr>
              <a:t>/9</a:t>
            </a:r>
            <a:endParaRPr lang="ru-RU" dirty="0">
              <a:solidFill>
                <a:srgbClr val="9108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64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kumimoji="0" lang="ru-RU" altLang="ru-RU" sz="2700" dirty="0">
                <a:ea typeface="Arial" panose="020B0604020202020204" pitchFamily="34" charset="0"/>
              </a:rPr>
              <a:t>Постановка задачи</a:t>
            </a:r>
            <a:endParaRPr kumimoji="0" lang="en-US" altLang="ru-RU" sz="2700" dirty="0">
              <a:ea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361224" y="1414328"/>
            <a:ext cx="828185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u-RU" sz="1600" b="1" dirty="0" smtClean="0">
                <a:solidFill>
                  <a:srgbClr val="910829"/>
                </a:solidFill>
              </a:rPr>
              <a:t>Задачи</a:t>
            </a:r>
            <a:r>
              <a:rPr lang="ru-RU" sz="1600" dirty="0" smtClean="0"/>
              <a:t>: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 smtClean="0"/>
              <a:t>провести </a:t>
            </a:r>
            <a:r>
              <a:rPr lang="ru-RU" sz="1600" dirty="0"/>
              <a:t>анализ предметной </a:t>
            </a:r>
            <a:r>
              <a:rPr lang="ru-RU" sz="1600" dirty="0" smtClean="0"/>
              <a:t>области</a:t>
            </a:r>
            <a:r>
              <a:rPr lang="en-US" sz="1600" dirty="0"/>
              <a:t>;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подготовить и исследовать </a:t>
            </a:r>
            <a:r>
              <a:rPr lang="ru-RU" sz="1600" dirty="0" err="1" smtClean="0"/>
              <a:t>датасет</a:t>
            </a:r>
            <a:r>
              <a:rPr lang="en-US" sz="1600" dirty="0" smtClean="0"/>
              <a:t>;</a:t>
            </a:r>
            <a:r>
              <a:rPr lang="ru-RU" sz="1600" dirty="0" smtClean="0"/>
              <a:t> 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выполнить предобработку текстовых </a:t>
            </a:r>
            <a:r>
              <a:rPr lang="ru-RU" sz="1600" dirty="0" smtClean="0"/>
              <a:t>данных</a:t>
            </a:r>
            <a:r>
              <a:rPr lang="en-US" sz="1600" dirty="0" smtClean="0"/>
              <a:t>;</a:t>
            </a:r>
            <a:r>
              <a:rPr lang="ru-RU" sz="1600" dirty="0" smtClean="0"/>
              <a:t> 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реализовать и обучить </a:t>
            </a:r>
            <a:r>
              <a:rPr lang="ru-RU" sz="1600" dirty="0" smtClean="0"/>
              <a:t>модели</a:t>
            </a:r>
            <a:r>
              <a:rPr lang="en-US" sz="1600" dirty="0" smtClean="0"/>
              <a:t>;</a:t>
            </a:r>
            <a:r>
              <a:rPr lang="ru-RU" sz="1600" dirty="0" smtClean="0"/>
              <a:t> 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оценить качество </a:t>
            </a:r>
            <a:r>
              <a:rPr lang="ru-RU" sz="1600" dirty="0" smtClean="0"/>
              <a:t>моделей</a:t>
            </a:r>
            <a:r>
              <a:rPr lang="en-US" sz="1600" dirty="0"/>
              <a:t>.</a:t>
            </a:r>
            <a:endParaRPr lang="ru-RU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E3A5F-8A03-4C6F-B794-D646C84EAEA2}"/>
              </a:ext>
            </a:extLst>
          </p:cNvPr>
          <p:cNvSpPr txBox="1"/>
          <p:nvPr/>
        </p:nvSpPr>
        <p:spPr>
          <a:xfrm>
            <a:off x="8229600" y="4774474"/>
            <a:ext cx="77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mtClean="0">
                <a:solidFill>
                  <a:srgbClr val="910829"/>
                </a:solidFill>
              </a:rPr>
              <a:pPr algn="r"/>
              <a:t>4</a:t>
            </a:fld>
            <a:r>
              <a:rPr lang="ru-RU" dirty="0" smtClean="0">
                <a:solidFill>
                  <a:srgbClr val="910829"/>
                </a:solidFill>
              </a:rPr>
              <a:t>/9</a:t>
            </a:r>
            <a:endParaRPr lang="ru-RU" dirty="0">
              <a:solidFill>
                <a:srgbClr val="9108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65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r>
              <a:rPr lang="ru-RU" sz="2800" dirty="0"/>
              <a:t>Архитектура решения (общая)</a:t>
            </a:r>
            <a:endParaRPr kumimoji="0" lang="en-US" altLang="ru-RU" sz="2700" dirty="0">
              <a:ea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5D1B0B-69A7-4113-AEC9-66FA73558917}"/>
              </a:ext>
            </a:extLst>
          </p:cNvPr>
          <p:cNvSpPr txBox="1"/>
          <p:nvPr/>
        </p:nvSpPr>
        <p:spPr>
          <a:xfrm>
            <a:off x="8229600" y="4774474"/>
            <a:ext cx="77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mtClean="0">
                <a:solidFill>
                  <a:srgbClr val="910829"/>
                </a:solidFill>
              </a:rPr>
              <a:pPr algn="r"/>
              <a:t>5</a:t>
            </a:fld>
            <a:r>
              <a:rPr lang="ru-RU" dirty="0" smtClean="0">
                <a:solidFill>
                  <a:srgbClr val="910829"/>
                </a:solidFill>
              </a:rPr>
              <a:t>/9</a:t>
            </a:r>
            <a:endParaRPr lang="ru-RU" dirty="0">
              <a:solidFill>
                <a:srgbClr val="910829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361224" y="1068099"/>
            <a:ext cx="828185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600" dirty="0"/>
              <a:t>Входные данные: текст </a:t>
            </a:r>
            <a:r>
              <a:rPr lang="ru-RU" sz="1600" dirty="0" err="1" smtClean="0"/>
              <a:t>кайдзен</a:t>
            </a:r>
            <a:r>
              <a:rPr lang="ru-RU" sz="1600" dirty="0" smtClean="0"/>
              <a:t>-предложения;</a:t>
            </a:r>
            <a:endParaRPr lang="ru-RU" sz="1600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600" dirty="0" smtClean="0"/>
              <a:t>Предобработка </a:t>
            </a:r>
            <a:r>
              <a:rPr lang="ru-RU" sz="1600" dirty="0" smtClean="0"/>
              <a:t>текста;</a:t>
            </a:r>
            <a:endParaRPr lang="ru-RU" sz="1600" dirty="0" smtClean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600" dirty="0" smtClean="0"/>
              <a:t>Преобразование </a:t>
            </a:r>
            <a:r>
              <a:rPr lang="ru-RU" sz="1600" dirty="0"/>
              <a:t>текста в числовой </a:t>
            </a:r>
            <a:r>
              <a:rPr lang="ru-RU" sz="1600" dirty="0" smtClean="0"/>
              <a:t>вид;</a:t>
            </a:r>
            <a:endParaRPr lang="ru-RU" sz="1600" dirty="0" smtClean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600" dirty="0" smtClean="0"/>
              <a:t>Модель </a:t>
            </a:r>
            <a:r>
              <a:rPr lang="ru-RU" sz="1600" dirty="0" smtClean="0"/>
              <a:t>классификации;</a:t>
            </a:r>
            <a:endParaRPr lang="ru-RU" sz="1600" dirty="0" smtClean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600" dirty="0" smtClean="0"/>
              <a:t>Выход</a:t>
            </a:r>
            <a:r>
              <a:rPr lang="ru-RU" sz="1600" dirty="0"/>
              <a:t>: список </a:t>
            </a:r>
            <a:r>
              <a:rPr lang="ru-RU" sz="1600" dirty="0" smtClean="0"/>
              <a:t>исполнителей.</a:t>
            </a:r>
            <a:endParaRPr lang="ru-RU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70330"/>
            <a:ext cx="6588645" cy="192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03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r>
              <a:rPr lang="ru-RU" sz="2800" dirty="0"/>
              <a:t>Архитектура </a:t>
            </a:r>
            <a:r>
              <a:rPr lang="en-US" sz="2800" dirty="0" smtClean="0"/>
              <a:t>BERT</a:t>
            </a:r>
            <a:endParaRPr kumimoji="0" lang="en-US" altLang="ru-RU" sz="2700" dirty="0">
              <a:ea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5D1B0B-69A7-4113-AEC9-66FA73558917}"/>
              </a:ext>
            </a:extLst>
          </p:cNvPr>
          <p:cNvSpPr txBox="1"/>
          <p:nvPr/>
        </p:nvSpPr>
        <p:spPr>
          <a:xfrm>
            <a:off x="8229600" y="4774474"/>
            <a:ext cx="77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mtClean="0">
                <a:solidFill>
                  <a:srgbClr val="910829"/>
                </a:solidFill>
              </a:rPr>
              <a:pPr algn="r"/>
              <a:t>6</a:t>
            </a:fld>
            <a:r>
              <a:rPr lang="ru-RU" dirty="0" smtClean="0">
                <a:solidFill>
                  <a:srgbClr val="910829"/>
                </a:solidFill>
              </a:rPr>
              <a:t>/9</a:t>
            </a:r>
            <a:endParaRPr lang="ru-RU" dirty="0">
              <a:solidFill>
                <a:srgbClr val="910829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333361" y="1044996"/>
            <a:ext cx="828185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600" dirty="0" err="1" smtClean="0"/>
              <a:t>Токенизация</a:t>
            </a:r>
            <a:r>
              <a:rPr lang="ru-RU" sz="1600" dirty="0" smtClean="0"/>
              <a:t> </a:t>
            </a:r>
            <a:r>
              <a:rPr lang="ru-RU" sz="1600" dirty="0" smtClean="0"/>
              <a:t>текста;</a:t>
            </a:r>
            <a:endParaRPr lang="ru-RU" sz="1600" dirty="0" smtClean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600" dirty="0" smtClean="0"/>
              <a:t>Добавление </a:t>
            </a:r>
            <a:r>
              <a:rPr lang="ru-RU" sz="1600" dirty="0"/>
              <a:t>специальных токенов ([CLS], [SEP</a:t>
            </a:r>
            <a:r>
              <a:rPr lang="ru-RU" sz="1600" dirty="0" smtClean="0"/>
              <a:t>]);</a:t>
            </a:r>
            <a:endParaRPr lang="ru-RU" sz="1600" dirty="0" smtClean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600" dirty="0" smtClean="0"/>
              <a:t>Преобразование </a:t>
            </a:r>
            <a:r>
              <a:rPr lang="ru-RU" sz="1600" dirty="0"/>
              <a:t>в </a:t>
            </a:r>
            <a:r>
              <a:rPr lang="ru-RU" sz="1600" dirty="0" err="1" smtClean="0"/>
              <a:t>эмбеддинги</a:t>
            </a:r>
            <a:r>
              <a:rPr lang="ru-RU" sz="1600" dirty="0" smtClean="0"/>
              <a:t>;</a:t>
            </a:r>
            <a:endParaRPr lang="ru-RU" sz="1600" dirty="0" smtClean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600" dirty="0" smtClean="0"/>
              <a:t>Прохождение </a:t>
            </a:r>
            <a:r>
              <a:rPr lang="ru-RU" sz="1600" dirty="0"/>
              <a:t>через слои </a:t>
            </a:r>
            <a:r>
              <a:rPr lang="ru-RU" sz="1600" dirty="0" err="1" smtClean="0"/>
              <a:t>трансформера</a:t>
            </a:r>
            <a:r>
              <a:rPr lang="ru-RU" sz="1600" dirty="0" smtClean="0"/>
              <a:t>;</a:t>
            </a:r>
            <a:endParaRPr lang="ru-RU" sz="1600" dirty="0" smtClean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600" dirty="0" smtClean="0"/>
              <a:t>Получение </a:t>
            </a:r>
            <a:r>
              <a:rPr lang="ru-RU" sz="1600" dirty="0"/>
              <a:t>контекстного </a:t>
            </a:r>
            <a:r>
              <a:rPr lang="ru-RU" sz="1600" dirty="0" smtClean="0"/>
              <a:t>представления;</a:t>
            </a:r>
            <a:endParaRPr lang="ru-RU" sz="1600" dirty="0" smtClean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600" dirty="0" err="1" smtClean="0"/>
              <a:t>Полносвязный</a:t>
            </a:r>
            <a:r>
              <a:rPr lang="ru-RU" sz="1600" dirty="0" smtClean="0"/>
              <a:t> </a:t>
            </a:r>
            <a:r>
              <a:rPr lang="ru-RU" sz="1600" dirty="0"/>
              <a:t>слой (</a:t>
            </a:r>
            <a:r>
              <a:rPr lang="ru-RU" sz="1600" dirty="0" err="1"/>
              <a:t>classification</a:t>
            </a:r>
            <a:r>
              <a:rPr lang="ru-RU" sz="1600" dirty="0"/>
              <a:t> </a:t>
            </a:r>
            <a:r>
              <a:rPr lang="ru-RU" sz="1600" dirty="0" err="1"/>
              <a:t>head</a:t>
            </a:r>
            <a:r>
              <a:rPr lang="ru-RU" sz="1600" dirty="0" smtClean="0"/>
              <a:t>);</a:t>
            </a:r>
            <a:endParaRPr lang="ru-RU" sz="1600" dirty="0" smtClean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1600" dirty="0" err="1" smtClean="0"/>
              <a:t>Сигмоида</a:t>
            </a:r>
            <a:r>
              <a:rPr lang="ru-RU" sz="1600" dirty="0" smtClean="0"/>
              <a:t> </a:t>
            </a:r>
            <a:r>
              <a:rPr lang="ru-RU" sz="1600" dirty="0"/>
              <a:t>→ вероятности </a:t>
            </a:r>
            <a:r>
              <a:rPr lang="ru-RU" sz="1600" dirty="0" smtClean="0"/>
              <a:t>классов.</a:t>
            </a:r>
            <a:endParaRPr lang="ru-RU" sz="1600" dirty="0" smtClean="0"/>
          </a:p>
          <a:p>
            <a:pPr lvl="0">
              <a:lnSpc>
                <a:spcPct val="150000"/>
              </a:lnSpc>
            </a:pPr>
            <a:endParaRPr lang="ru-RU" sz="1600" dirty="0" smtClean="0"/>
          </a:p>
          <a:p>
            <a:pPr lvl="0">
              <a:lnSpc>
                <a:spcPct val="150000"/>
              </a:lnSpc>
            </a:pPr>
            <a:r>
              <a:rPr lang="ru-RU" sz="1600" dirty="0"/>
              <a:t>BERT использует механизм </a:t>
            </a:r>
            <a:r>
              <a:rPr lang="ru-RU" sz="1600" dirty="0" err="1"/>
              <a:t>self-attention</a:t>
            </a:r>
            <a:r>
              <a:rPr lang="ru-RU" sz="1600" dirty="0"/>
              <a:t> для учета контекста слов в </a:t>
            </a:r>
            <a:r>
              <a:rPr lang="ru-RU" sz="1600" dirty="0" smtClean="0"/>
              <a:t>предложении.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00241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kumimoji="0" lang="ru-RU" altLang="ru-RU" sz="2700" dirty="0">
                <a:ea typeface="Arial" panose="020B0604020202020204" pitchFamily="34" charset="0"/>
              </a:rPr>
              <a:t>Используемый инструментарий</a:t>
            </a:r>
            <a:endParaRPr kumimoji="0" lang="en-US" altLang="ru-RU" sz="2700" dirty="0">
              <a:ea typeface="Arial" panose="020B0604020202020204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D328596-C1B6-40E5-B375-4686C4F6E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084740"/>
              </p:ext>
            </p:extLst>
          </p:nvPr>
        </p:nvGraphicFramePr>
        <p:xfrm>
          <a:off x="1454150" y="1307896"/>
          <a:ext cx="6096000" cy="2890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034158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70040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/>
                        <a:t>Язык программирования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1" dirty="0"/>
                        <a:t>Python</a:t>
                      </a:r>
                      <a:endParaRPr lang="ru-RU" b="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536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Среда разработки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err="1" smtClean="0"/>
                        <a:t>GoogleColab</a:t>
                      </a:r>
                      <a:endParaRPr lang="ru-RU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10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Программная платформа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err="1" smtClean="0"/>
                        <a:t>Jupyter</a:t>
                      </a:r>
                      <a:endParaRPr lang="ru-RU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202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Ключевые библиотеки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err="1" smtClean="0"/>
                        <a:t>PyTorch</a:t>
                      </a:r>
                      <a:r>
                        <a:rPr lang="en-US" i="1" dirty="0" smtClean="0"/>
                        <a:t>,</a:t>
                      </a:r>
                      <a:r>
                        <a:rPr lang="en-US" i="1" baseline="0" dirty="0" smtClean="0"/>
                        <a:t> Transformers, Pandas,</a:t>
                      </a:r>
                      <a:r>
                        <a:rPr lang="ru-RU" i="1" baseline="0" dirty="0" smtClean="0"/>
                        <a:t> </a:t>
                      </a:r>
                      <a:r>
                        <a:rPr lang="en-US" i="1" baseline="0" dirty="0" err="1" smtClean="0"/>
                        <a:t>Scikit</a:t>
                      </a:r>
                      <a:r>
                        <a:rPr lang="en-US" i="1" baseline="0" dirty="0" smtClean="0"/>
                        <a:t>-learn</a:t>
                      </a:r>
                      <a:endParaRPr lang="ru-RU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124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Хранение данных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/>
                        <a:t>Excel (</a:t>
                      </a:r>
                      <a:r>
                        <a:rPr lang="ru-RU" i="1" dirty="0" smtClean="0"/>
                        <a:t>Входные данные</a:t>
                      </a:r>
                      <a:r>
                        <a:rPr lang="en-US" i="1" dirty="0" smtClean="0"/>
                        <a:t>)</a:t>
                      </a:r>
                      <a:endParaRPr lang="ru-RU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12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Хранение кода/Управление задачами/</a:t>
                      </a:r>
                      <a:r>
                        <a:rPr lang="ru-RU" dirty="0" err="1"/>
                        <a:t>Ревью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GitHub</a:t>
                      </a:r>
                      <a:endParaRPr lang="ru-RU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591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Среда моделирования процессов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n8n</a:t>
                      </a:r>
                      <a:endParaRPr lang="ru-RU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4244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5278F38-670F-4DEB-B81F-FAB66587FE3A}"/>
              </a:ext>
            </a:extLst>
          </p:cNvPr>
          <p:cNvSpPr txBox="1"/>
          <p:nvPr/>
        </p:nvSpPr>
        <p:spPr>
          <a:xfrm>
            <a:off x="8229600" y="4774474"/>
            <a:ext cx="77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mtClean="0">
                <a:solidFill>
                  <a:srgbClr val="910829"/>
                </a:solidFill>
              </a:rPr>
              <a:pPr algn="r"/>
              <a:t>7</a:t>
            </a:fld>
            <a:r>
              <a:rPr lang="ru-RU" dirty="0" smtClean="0">
                <a:solidFill>
                  <a:srgbClr val="910829"/>
                </a:solidFill>
              </a:rPr>
              <a:t>/9</a:t>
            </a:r>
            <a:endParaRPr lang="ru-RU" dirty="0">
              <a:solidFill>
                <a:srgbClr val="9108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92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2">
            <a:extLst>
              <a:ext uri="{FF2B5EF4-FFF2-40B4-BE49-F238E27FC236}">
                <a16:creationId xmlns:a16="http://schemas.microsoft.com/office/drawing/2014/main" id="{A032768A-17D0-45EF-B5F1-2E4F3BF4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88" y="-36513"/>
            <a:ext cx="8543925" cy="768351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sz="2700" dirty="0">
                <a:ea typeface="Arial" panose="020B0604020202020204" pitchFamily="34" charset="0"/>
              </a:rPr>
              <a:t>Заключение</a:t>
            </a:r>
            <a:endParaRPr kumimoji="0" lang="en-US" altLang="ru-RU" sz="2700" dirty="0">
              <a:ea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04D30C1-02AF-47B8-BED5-812549D59C83}"/>
              </a:ext>
            </a:extLst>
          </p:cNvPr>
          <p:cNvSpPr/>
          <p:nvPr/>
        </p:nvSpPr>
        <p:spPr>
          <a:xfrm>
            <a:off x="230188" y="1575891"/>
            <a:ext cx="83299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910829"/>
              </a:buClr>
              <a:buFont typeface="Wingdings" panose="05000000000000000000" pitchFamily="2" charset="2"/>
              <a:buChar char="ü"/>
            </a:pPr>
            <a:r>
              <a:rPr lang="ru-RU" dirty="0"/>
              <a:t>Разработана модель </a:t>
            </a:r>
            <a:r>
              <a:rPr lang="ru-RU" dirty="0" err="1"/>
              <a:t>многометочной</a:t>
            </a:r>
            <a:r>
              <a:rPr lang="ru-RU" dirty="0"/>
              <a:t> классификации </a:t>
            </a:r>
            <a:r>
              <a:rPr lang="ru-RU" dirty="0" err="1"/>
              <a:t>кайдзен</a:t>
            </a:r>
            <a:r>
              <a:rPr lang="ru-RU" dirty="0"/>
              <a:t>-предложений с использованием классических методов и </a:t>
            </a:r>
            <a:r>
              <a:rPr lang="ru-RU" dirty="0" err="1"/>
              <a:t>нейросетевой</a:t>
            </a:r>
            <a:r>
              <a:rPr lang="ru-RU" dirty="0"/>
              <a:t> архитектуры </a:t>
            </a:r>
            <a:r>
              <a:rPr lang="ru-RU" dirty="0" smtClean="0"/>
              <a:t>BERT</a:t>
            </a:r>
            <a:r>
              <a:rPr lang="en-US" dirty="0" smtClean="0"/>
              <a:t>.</a:t>
            </a:r>
            <a:endParaRPr lang="ru-RU" dirty="0" smtClean="0"/>
          </a:p>
          <a:p>
            <a:pPr marL="342900" indent="-342900">
              <a:lnSpc>
                <a:spcPct val="150000"/>
              </a:lnSpc>
              <a:buClr>
                <a:srgbClr val="910829"/>
              </a:buClr>
              <a:buFont typeface="Wingdings" panose="05000000000000000000" pitchFamily="2" charset="2"/>
              <a:buChar char="ü"/>
            </a:pPr>
            <a:r>
              <a:rPr lang="ru-RU" dirty="0" smtClean="0"/>
              <a:t>Метод </a:t>
            </a:r>
            <a:r>
              <a:rPr lang="ru-RU" dirty="0"/>
              <a:t>TF-IDF показал низкое качество (F1-score = 0.21), что связано с неспособностью учитывать контекст текста</a:t>
            </a:r>
            <a:r>
              <a:rPr lang="ru-RU" dirty="0" smtClean="0"/>
              <a:t>.</a:t>
            </a:r>
          </a:p>
          <a:p>
            <a:pPr marL="342900" indent="-342900">
              <a:lnSpc>
                <a:spcPct val="150000"/>
              </a:lnSpc>
              <a:buClr>
                <a:srgbClr val="910829"/>
              </a:buClr>
              <a:buFont typeface="Wingdings" panose="05000000000000000000" pitchFamily="2" charset="2"/>
              <a:buChar char="ü"/>
            </a:pPr>
            <a:r>
              <a:rPr lang="ru-RU" dirty="0" err="1"/>
              <a:t>Предобученная</a:t>
            </a:r>
            <a:r>
              <a:rPr lang="ru-RU" dirty="0"/>
              <a:t> модель BERT продемонстрировала более высокое качество (F1-score = 0.45) за счёт использования контекстных представлений.</a:t>
            </a:r>
            <a:endParaRPr lang="ru-RU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3F65C9-DB43-43A5-8830-2EA20035FF62}"/>
              </a:ext>
            </a:extLst>
          </p:cNvPr>
          <p:cNvSpPr txBox="1"/>
          <p:nvPr/>
        </p:nvSpPr>
        <p:spPr>
          <a:xfrm>
            <a:off x="8229600" y="4774474"/>
            <a:ext cx="77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DFB39DF4-0BAA-47B9-88B0-039565E8E73E}" type="slidenum">
              <a:rPr lang="ru-RU" smtClean="0">
                <a:solidFill>
                  <a:srgbClr val="910829"/>
                </a:solidFill>
              </a:rPr>
              <a:pPr algn="r"/>
              <a:t>8</a:t>
            </a:fld>
            <a:r>
              <a:rPr lang="ru-RU" dirty="0" smtClean="0">
                <a:solidFill>
                  <a:srgbClr val="910829"/>
                </a:solidFill>
              </a:rPr>
              <a:t>/9</a:t>
            </a:r>
            <a:endParaRPr lang="ru-RU" dirty="0">
              <a:solidFill>
                <a:srgbClr val="9108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39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DB556E04-610B-47E0-A36D-CE18CA7ECCA2}"/>
              </a:ext>
            </a:extLst>
          </p:cNvPr>
          <p:cNvSpPr txBox="1"/>
          <p:nvPr/>
        </p:nvSpPr>
        <p:spPr>
          <a:xfrm>
            <a:off x="2694723" y="2340917"/>
            <a:ext cx="3754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910829"/>
                </a:solidFill>
                <a:latin typeface="+mj-lt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14179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Другая 8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910829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53585F"/>
        </a:solidFill>
        <a:ln w="12700">
          <a:miter lim="400000"/>
        </a:ln>
      </a:spPr>
      <a:bodyPr lIns="22860" rIns="22860" anchor="ctr"/>
      <a:lstStyle>
        <a:defPPr defTabSz="228531">
          <a:defRPr sz="1450">
            <a:solidFill>
              <a:srgbClr val="C62E3E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latin typeface="Lato Regular"/>
            <a:ea typeface="Lato Regular"/>
            <a:cs typeface="Lato Regular"/>
            <a:sym typeface="Lato Regular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Презентация НТС Садырев.pptx" id="{FC89D008-9ECD-406D-883E-6D3DF8D211A8}" vid="{7DC6D9FB-AE24-4F9A-BD4A-BF6095AD9C6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ПГНИУ</Template>
  <TotalTime>12865</TotalTime>
  <Words>454</Words>
  <Application>Microsoft Office PowerPoint</Application>
  <PresentationFormat>Экран (16:9)</PresentationFormat>
  <Paragraphs>98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PermianSansTypeface</vt:lpstr>
      <vt:lpstr>PermianSerifTypeface</vt:lpstr>
      <vt:lpstr>Wingdings</vt:lpstr>
      <vt:lpstr>Тема Office</vt:lpstr>
      <vt:lpstr>Выполнила: студент 1 курса магистратуры физико-математического института группы ПМИ-1 Макарова Полина Фёдоровна</vt:lpstr>
      <vt:lpstr>Введение</vt:lpstr>
      <vt:lpstr>Цель работы</vt:lpstr>
      <vt:lpstr>Постановка задачи</vt:lpstr>
      <vt:lpstr>Архитектура решения (общая)</vt:lpstr>
      <vt:lpstr>Архитектура BERT</vt:lpstr>
      <vt:lpstr>Используемый инструментарий</vt:lpstr>
      <vt:lpstr>Заключение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Селетков Илья Павлович  Кафедра радиоэлектроники и защиты информации</dc:title>
  <dc:creator>iseletkov</dc:creator>
  <cp:lastModifiedBy>User</cp:lastModifiedBy>
  <cp:revision>349</cp:revision>
  <dcterms:created xsi:type="dcterms:W3CDTF">2022-02-21T04:35:07Z</dcterms:created>
  <dcterms:modified xsi:type="dcterms:W3CDTF">2026-04-29T15:51:54Z</dcterms:modified>
</cp:coreProperties>
</file>